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etendard Medium"/>
      <p:bold r:id="rId16"/>
    </p:embeddedFont>
    <p:embeddedFont>
      <p:font typeface="Pretendard Regular"/>
      <p:regular r:id="rId17"/>
    </p:embeddedFont>
    <p:embeddedFont>
      <p:font typeface="Pretendard ExtraBold"/>
      <p:bold r:id="rId18"/>
    </p:embeddedFont>
    <p:embeddedFont>
      <p:font typeface="Pretendard Bold"/>
      <p:bold r:id="rId19"/>
    </p:embeddedFont>
    <p:embeddedFont>
      <p:font typeface="Pretendard Light"/>
      <p:regular r:id="rId20"/>
    </p:embeddedFont>
    <p:embeddedFont>
      <p:font typeface="Geologica Roman SemiBold"/>
      <p:bold r:id="rId21"/>
    </p:embeddedFont>
    <p:embeddedFont>
      <p:font typeface="210 Neverland Regular"/>
      <p:regular r:id="rId22"/>
    </p:embeddedFont>
    <p:embeddedFont>
      <p:font typeface="Pretendard SemiBold"/>
      <p:bold r:id="rId23"/>
    </p:embeddedFont>
    <p:embeddedFont>
      <p:font typeface="Geologica Roman Medium"/>
      <p:bold r:id="rId24"/>
    </p:embeddedFont>
    <p:embeddedFont>
      <p:font typeface="Geologica Roman Bold"/>
      <p:bold r:id="rId25"/>
    </p:embeddedFont>
    <p:embeddedFont>
      <p:font typeface="Noto Sans CJK KR Regular"/>
      <p:regular r:id="rId26"/>
    </p:embeddedFont>
    <p:embeddedFont>
      <p:font typeface="Pretendard Black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20" Target="fonts/font5.fntdata" Type="http://schemas.openxmlformats.org/officeDocument/2006/relationships/font"/><Relationship Id="rId21" Target="fonts/font6.fntdata" Type="http://schemas.openxmlformats.org/officeDocument/2006/relationships/font"/><Relationship Id="rId22" Target="fonts/font7.fntdata" Type="http://schemas.openxmlformats.org/officeDocument/2006/relationships/font"/><Relationship Id="rId23" Target="fonts/font8.fntdata" Type="http://schemas.openxmlformats.org/officeDocument/2006/relationships/font"/><Relationship Id="rId24" Target="fonts/font9.fntdata" Type="http://schemas.openxmlformats.org/officeDocument/2006/relationships/font"/><Relationship Id="rId25" Target="fonts/font10.fntdata" Type="http://schemas.openxmlformats.org/officeDocument/2006/relationships/font"/><Relationship Id="rId26" Target="fonts/font11.fntdata" Type="http://schemas.openxmlformats.org/officeDocument/2006/relationships/font"/><Relationship Id="rId27" Target="fonts/font1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5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5.png" Type="http://schemas.openxmlformats.org/officeDocument/2006/relationships/image"/><Relationship Id="rId20" Target="../media/image41.png" Type="http://schemas.openxmlformats.org/officeDocument/2006/relationships/image"/><Relationship Id="rId21" Target="../media/image42.png" Type="http://schemas.openxmlformats.org/officeDocument/2006/relationships/image"/><Relationship Id="rId22" Target="../media/image43.png" Type="http://schemas.openxmlformats.org/officeDocument/2006/relationships/image"/><Relationship Id="rId23" Target="../media/image44.svg" Type="http://schemas.openxmlformats.org/officeDocument/2006/relationships/image"/><Relationship Id="rId24" Target="../media/image45.png" Type="http://schemas.openxmlformats.org/officeDocument/2006/relationships/image"/><Relationship Id="rId25" Target="../media/image46.svg" Type="http://schemas.openxmlformats.org/officeDocument/2006/relationships/image"/><Relationship Id="rId3" Target="../media/image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16" Target="../media/image57.png" Type="http://schemas.openxmlformats.org/officeDocument/2006/relationships/image"/><Relationship Id="rId17" Target="../media/image58.sv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media/image5.png" Type="http://schemas.openxmlformats.org/officeDocument/2006/relationships/image"/><Relationship Id="rId20" Target="../media/image61.png" Type="http://schemas.openxmlformats.org/officeDocument/2006/relationships/image"/><Relationship Id="rId21" Target="../media/image62.svg" Type="http://schemas.openxmlformats.org/officeDocument/2006/relationships/image"/><Relationship Id="rId3" Target="../media/image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52.svg" Type="http://schemas.openxmlformats.org/officeDocument/2006/relationships/image"/><Relationship Id="rId12" Target="../media/image65.png" Type="http://schemas.openxmlformats.org/officeDocument/2006/relationships/image"/><Relationship Id="rId13" Target="../media/image54.svg" Type="http://schemas.openxmlformats.org/officeDocument/2006/relationships/image"/><Relationship Id="rId14" Target="../media/image66.png" Type="http://schemas.openxmlformats.org/officeDocument/2006/relationships/image"/><Relationship Id="rId15" Target="../media/image5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69.png" Type="http://schemas.openxmlformats.org/officeDocument/2006/relationships/image"/><Relationship Id="rId19" Target="../media/image60.svg" Type="http://schemas.openxmlformats.org/officeDocument/2006/relationships/image"/><Relationship Id="rId2" Target="../media/image5.png" Type="http://schemas.openxmlformats.org/officeDocument/2006/relationships/image"/><Relationship Id="rId20" Target="../media/image62.svg" Type="http://schemas.openxmlformats.org/officeDocument/2006/relationships/image"/><Relationship Id="rId3" Target="../media/image6.svg" Type="http://schemas.openxmlformats.org/officeDocument/2006/relationships/image"/><Relationship Id="rId4" Target="../media/image63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74.png" Type="http://schemas.openxmlformats.org/officeDocument/2006/relationships/image"/><Relationship Id="rId15" Target="../media/image36.svg" Type="http://schemas.openxmlformats.org/officeDocument/2006/relationships/image"/><Relationship Id="rId16" Target="../media/image75.png" Type="http://schemas.openxmlformats.org/officeDocument/2006/relationships/image"/><Relationship Id="rId17" Target="../media/image38.svg" Type="http://schemas.openxmlformats.org/officeDocument/2006/relationships/image"/><Relationship Id="rId18" Target="../media/image76.png" Type="http://schemas.openxmlformats.org/officeDocument/2006/relationships/image"/><Relationship Id="rId19" Target="../media/image77.png" Type="http://schemas.openxmlformats.org/officeDocument/2006/relationships/image"/><Relationship Id="rId2" Target="../media/image5.png" Type="http://schemas.openxmlformats.org/officeDocument/2006/relationships/image"/><Relationship Id="rId20" Target="../media/image78.png" Type="http://schemas.openxmlformats.org/officeDocument/2006/relationships/image"/><Relationship Id="rId21" Target="../media/image79.png" Type="http://schemas.openxmlformats.org/officeDocument/2006/relationships/image"/><Relationship Id="rId22" Target="../media/image80.svg" Type="http://schemas.openxmlformats.org/officeDocument/2006/relationships/image"/><Relationship Id="rId23" Target="../media/image81.png" Type="http://schemas.openxmlformats.org/officeDocument/2006/relationships/image"/><Relationship Id="rId24" Target="../media/image82.svg" Type="http://schemas.openxmlformats.org/officeDocument/2006/relationships/image"/><Relationship Id="rId3" Target="../media/image6.svg" Type="http://schemas.openxmlformats.org/officeDocument/2006/relationships/image"/><Relationship Id="rId4" Target="../media/image70.png" Type="http://schemas.openxmlformats.org/officeDocument/2006/relationships/image"/><Relationship Id="rId5" Target="../media/image28.svg" Type="http://schemas.openxmlformats.org/officeDocument/2006/relationships/image"/><Relationship Id="rId6" Target="../media/image41.png" Type="http://schemas.openxmlformats.org/officeDocument/2006/relationships/image"/><Relationship Id="rId7" Target="../media/image30.svg" Type="http://schemas.openxmlformats.org/officeDocument/2006/relationships/image"/><Relationship Id="rId8" Target="../media/image7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435100" y="901700"/>
            <a:ext cx="2120900" cy="558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89000" y="6807200"/>
            <a:ext cx="1130300" cy="101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2794000"/>
            <a:ext cx="68961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99" b="false" i="false" u="none" strike="noStrike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기다림의 미학을 경험으로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" y="3721100"/>
            <a:ext cx="8128000" cy="162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00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패스나우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3200" y="965200"/>
            <a:ext cx="20447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66FF"/>
                </a:solidFill>
                <a:latin typeface="Pretendard Medium"/>
                <a:ea typeface="Pretendard Medium"/>
                <a:cs typeface="Pretendard Medium"/>
              </a:rPr>
              <a:t>2026.09.14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600" y="8788400"/>
            <a:ext cx="74676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97" b="false" i="false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2024270035 오세준</a:t>
            </a:r>
          </a:p>
          <a:p>
            <a:pPr algn="l" lvl="0">
              <a:lnSpc>
                <a:spcPct val="116199"/>
              </a:lnSpc>
            </a:pPr>
            <a:r>
              <a:rPr lang="en-US" sz="1897" b="false" i="false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안혜현</a:t>
            </a:r>
          </a:p>
          <a:p>
            <a:pPr algn="l" lvl="0">
              <a:lnSpc>
                <a:spcPct val="116199"/>
              </a:lnSpc>
            </a:pPr>
            <a:r>
              <a:rPr lang="en-US" sz="1897" b="false" i="false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 2022370002 이정관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5300" y="6591300"/>
            <a:ext cx="4826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000000">
                    <a:alpha val="60000"/>
                  </a:srgbClr>
                </a:solidFill>
                <a:latin typeface="Pretendard Light"/>
                <a:ea typeface="Pretendard Light"/>
                <a:cs typeface="Pretendard Light"/>
              </a:rPr>
              <a:t>기다림의 미학을 경험으로 바꾸다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19500" y="139700"/>
            <a:ext cx="17780000" cy="101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2200" y="4724400"/>
            <a:ext cx="7023100" cy="468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49400" y="1600200"/>
            <a:ext cx="57277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600" b="false" i="false" u="none" strike="noStrike">
                <a:solidFill>
                  <a:srgbClr val="0066FF"/>
                </a:solidFill>
                <a:latin typeface="210 Neverland Regular"/>
                <a:ea typeface="210 Neverland Regular"/>
                <a:cs typeface="210 Neverland Regular"/>
              </a:rPr>
              <a:t>목차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44300" y="7874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제기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44300" y="13081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기존 대기 시스템의 한계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64700" y="749300"/>
            <a:ext cx="12446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44300" y="18288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솔루션 소개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44300" y="23495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스마트 웨이팅 시스템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4700" y="1790700"/>
            <a:ext cx="12446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44300" y="29083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핵심 기능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44300" y="34290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실지산 현황 및 AI 예측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64700" y="2870200"/>
            <a:ext cx="12446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44300" y="40259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핵심 기능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44300" y="45466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QR 및 간편 인증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2000" y="3987800"/>
            <a:ext cx="12700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44300" y="51816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차별점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44300" y="57023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배리어 프리 디자인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64700" y="5143500"/>
            <a:ext cx="12446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44300" y="63627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도입효과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44300" y="68834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매장 회전율 및 운영 효율 증대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64700" y="6324600"/>
            <a:ext cx="12446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44300" y="75438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활용분야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44300" y="80645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식당, 병원 및 서비스 산업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64700" y="7505700"/>
            <a:ext cx="12446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44300" y="8636000"/>
            <a:ext cx="3327400" cy="4826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l" lvl="0">
              <a:lnSpc>
                <a:spcPct val="98770"/>
              </a:lnSpc>
            </a:pPr>
            <a:r>
              <a:rPr lang="en-US" sz="2603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비전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44300" y="9156700"/>
            <a:ext cx="59690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고객과 매장을 잇는 가치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64700" y="8597900"/>
            <a:ext cx="1244600" cy="546100"/>
          </a:xfrm>
          <a:prstGeom prst="rect">
            <a:avLst/>
          </a:prstGeom>
        </p:spPr>
        <p:txBody>
          <a:bodyPr anchor="ctr" rtlCol="false" lIns="0" tIns="36830" rIns="0" bIns="36830"/>
          <a:lstStyle/>
          <a:p>
            <a:pPr algn="r" lvl="0">
              <a:lnSpc>
                <a:spcPct val="9960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Geologica Roman SemiBold"/>
                <a:ea typeface="Geologica Roman SemiBold"/>
                <a:cs typeface="Geologica Roman SemiBold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67500" y="2463800"/>
            <a:ext cx="4953000" cy="6426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886700" y="3149600"/>
            <a:ext cx="25146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026900" y="2463800"/>
            <a:ext cx="4953000" cy="642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3411200" y="3149600"/>
            <a:ext cx="2184400" cy="76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128000" y="5613400"/>
            <a:ext cx="2044700" cy="295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88900" y="5549900"/>
            <a:ext cx="3378200" cy="292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308100" y="2463800"/>
            <a:ext cx="4953000" cy="6426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2438400" y="3149600"/>
            <a:ext cx="2692400" cy="76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2146300" y="5676900"/>
            <a:ext cx="3225800" cy="267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5400000">
            <a:off x="1244600" y="1435100"/>
            <a:ext cx="368300" cy="76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454400" y="1219200"/>
            <a:ext cx="977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  <a:ea typeface="Pretendard Light"/>
                <a:cs typeface="Pretendard Light"/>
              </a:rPr>
              <a:t>무한 대기의 악순화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8000" y="1206500"/>
            <a:ext cx="2933700" cy="558800"/>
          </a:xfrm>
          <a:prstGeom prst="rect">
            <a:avLst/>
          </a:prstGeom>
        </p:spPr>
        <p:txBody>
          <a:bodyPr anchor="ctr" rtlCol="false" lIns="0" tIns="40005" rIns="0" bIns="40005"/>
          <a:lstStyle/>
          <a:p>
            <a:pPr algn="l" lvl="0">
              <a:lnSpc>
                <a:spcPct val="9877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제기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88200" y="4203700"/>
            <a:ext cx="38989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수기 호출과 대기 관리에 투입되는 인력 비용은 수익성 저하의 원인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99400" y="3251200"/>
            <a:ext cx="2514600" cy="546100"/>
          </a:xfrm>
          <a:prstGeom prst="rect">
            <a:avLst/>
          </a:prstGeom>
        </p:spPr>
        <p:txBody>
          <a:bodyPr anchor="ctr" rtlCol="false" lIns="0" tIns="38672" rIns="0" bIns="38672"/>
          <a:lstStyle/>
          <a:p>
            <a:pPr algn="ctr" lvl="0">
              <a:lnSpc>
                <a:spcPct val="9877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운영 리소스 낭비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22200" y="4203700"/>
            <a:ext cx="39370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대기 순서의 불명확함은 혼잡과 고객 간 마찰을 유발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96900" y="3251200"/>
            <a:ext cx="2400300" cy="546100"/>
          </a:xfrm>
          <a:prstGeom prst="rect">
            <a:avLst/>
          </a:prstGeom>
        </p:spPr>
        <p:txBody>
          <a:bodyPr anchor="ctr" rtlCol="false" lIns="0" tIns="38672" rIns="0" bIns="38672"/>
          <a:lstStyle/>
          <a:p>
            <a:pPr algn="ctr" lvl="0">
              <a:lnSpc>
                <a:spcPct val="9877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불투명한 순서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41500" y="4203700"/>
            <a:ext cx="38989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예측 불가능한 대기시간은 </a:t>
            </a:r>
          </a:p>
          <a:p>
            <a:pPr algn="ctr" lvl="0">
              <a:lnSpc>
                <a:spcPct val="122008"/>
              </a:lnSpc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고객 이탈을 유발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14600" y="3251200"/>
            <a:ext cx="2552700" cy="546100"/>
          </a:xfrm>
          <a:prstGeom prst="rect">
            <a:avLst/>
          </a:prstGeom>
        </p:spPr>
        <p:txBody>
          <a:bodyPr anchor="ctr" rtlCol="false" lIns="0" tIns="38672" rIns="0" bIns="38672"/>
          <a:lstStyle/>
          <a:p>
            <a:pPr algn="ctr" lvl="0">
              <a:lnSpc>
                <a:spcPct val="98770"/>
              </a:lnSpc>
            </a:pPr>
            <a:r>
              <a:rPr lang="en-US" sz="29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막연한 대기 시간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384300" y="2451100"/>
            <a:ext cx="4953000" cy="650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3429000" y="3022600"/>
            <a:ext cx="863600" cy="54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2705100" y="4648200"/>
            <a:ext cx="2311400" cy="231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2933700" y="4826000"/>
            <a:ext cx="1854200" cy="185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244600" y="1435100"/>
            <a:ext cx="368300" cy="76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667500" y="2451100"/>
            <a:ext cx="4953000" cy="650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712200" y="3022600"/>
            <a:ext cx="863600" cy="54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7988300" y="4648200"/>
            <a:ext cx="2311400" cy="2311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950700" y="2451100"/>
            <a:ext cx="4953000" cy="650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3995400" y="3022600"/>
            <a:ext cx="863600" cy="5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271500" y="4648200"/>
            <a:ext cx="2311400" cy="231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8229600" y="4787900"/>
            <a:ext cx="1892300" cy="1892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3449300" y="4775200"/>
            <a:ext cx="1968500" cy="1968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905000" y="7353300"/>
            <a:ext cx="38989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3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태블릿 또는 QR 코드 기반으로 고객의 개인 단말에서 즉시 등록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86100" y="3086100"/>
            <a:ext cx="1536700" cy="419100"/>
          </a:xfrm>
          <a:prstGeom prst="rect">
            <a:avLst/>
          </a:prstGeom>
        </p:spPr>
        <p:txBody>
          <a:bodyPr anchor="ctr" rtlCol="false" lIns="0" tIns="29337" rIns="0" bIns="29337"/>
          <a:lstStyle/>
          <a:p>
            <a:pPr algn="ctr" lvl="0">
              <a:lnSpc>
                <a:spcPct val="98770"/>
              </a:lnSpc>
            </a:pPr>
            <a:r>
              <a:rPr lang="en-US" sz="2200" b="false" i="false" u="none" strike="noStrike" spc="-200">
                <a:solidFill>
                  <a:srgbClr val="0066FF"/>
                </a:solidFill>
                <a:latin typeface="Geologica Roman Medium"/>
                <a:ea typeface="Geologica Roman Medium"/>
                <a:cs typeface="Geologica Roman Medium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73300" y="3784600"/>
            <a:ext cx="3175000" cy="571500"/>
          </a:xfrm>
          <a:prstGeom prst="rect">
            <a:avLst/>
          </a:prstGeom>
        </p:spPr>
        <p:txBody>
          <a:bodyPr anchor="ctr" rtlCol="false" lIns="0" tIns="41339" rIns="0" bIns="41339"/>
          <a:lstStyle/>
          <a:p>
            <a:pPr algn="ctr" lvl="0">
              <a:lnSpc>
                <a:spcPct val="98770"/>
              </a:lnSpc>
            </a:pPr>
            <a:r>
              <a:rPr lang="en-US" sz="31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간편한 웨이팅 등록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48100" y="1193800"/>
            <a:ext cx="977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  <a:ea typeface="Pretendard Light"/>
                <a:cs typeface="Pretendard Light"/>
              </a:rPr>
              <a:t>디지털 웨이팅으로의 전환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8000" y="1206500"/>
            <a:ext cx="2933700" cy="558800"/>
          </a:xfrm>
          <a:prstGeom prst="rect">
            <a:avLst/>
          </a:prstGeom>
        </p:spPr>
        <p:txBody>
          <a:bodyPr anchor="ctr" rtlCol="false" lIns="0" tIns="40005" rIns="0" bIns="40005"/>
          <a:lstStyle/>
          <a:p>
            <a:pPr algn="l" lvl="0">
              <a:lnSpc>
                <a:spcPct val="9877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솔루션 소개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00900" y="7353300"/>
            <a:ext cx="38989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3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실시간 호출 시스템으로 고객은 매장 밖에서도 자유로운 시간 활용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69300" y="3086100"/>
            <a:ext cx="1536700" cy="419100"/>
          </a:xfrm>
          <a:prstGeom prst="rect">
            <a:avLst/>
          </a:prstGeom>
        </p:spPr>
        <p:txBody>
          <a:bodyPr anchor="ctr" rtlCol="false" lIns="0" tIns="29337" rIns="0" bIns="29337"/>
          <a:lstStyle/>
          <a:p>
            <a:pPr algn="ctr" lvl="0">
              <a:lnSpc>
                <a:spcPct val="98770"/>
              </a:lnSpc>
            </a:pPr>
            <a:r>
              <a:rPr lang="en-US" sz="2200" b="false" i="false" u="none" strike="noStrike" spc="-200">
                <a:solidFill>
                  <a:srgbClr val="0066FF"/>
                </a:solidFill>
                <a:latin typeface="Geologica Roman Medium"/>
                <a:ea typeface="Geologica Roman Medium"/>
                <a:cs typeface="Geologica Roman Medium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91400" y="3784600"/>
            <a:ext cx="3581400" cy="571500"/>
          </a:xfrm>
          <a:prstGeom prst="rect">
            <a:avLst/>
          </a:prstGeom>
        </p:spPr>
        <p:txBody>
          <a:bodyPr anchor="ctr" rtlCol="false" lIns="0" tIns="41339" rIns="0" bIns="41339"/>
          <a:lstStyle/>
          <a:p>
            <a:pPr algn="ctr" lvl="0">
              <a:lnSpc>
                <a:spcPct val="98770"/>
              </a:lnSpc>
            </a:pPr>
            <a:r>
              <a:rPr lang="en-US" sz="31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대기 공간 자유도 부여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71400" y="7353300"/>
            <a:ext cx="3911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3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누적 데이터를 분석, 매장의 운영 패턴과 회전율을 정리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65200" y="3086100"/>
            <a:ext cx="1536700" cy="419100"/>
          </a:xfrm>
          <a:prstGeom prst="rect">
            <a:avLst/>
          </a:prstGeom>
        </p:spPr>
        <p:txBody>
          <a:bodyPr anchor="ctr" rtlCol="false" lIns="0" tIns="29337" rIns="0" bIns="29337"/>
          <a:lstStyle/>
          <a:p>
            <a:pPr algn="ctr" lvl="0">
              <a:lnSpc>
                <a:spcPct val="98770"/>
              </a:lnSpc>
            </a:pPr>
            <a:r>
              <a:rPr lang="en-US" sz="2200" b="false" i="false" u="none" strike="noStrike" spc="-200">
                <a:solidFill>
                  <a:srgbClr val="0066FF"/>
                </a:solidFill>
                <a:latin typeface="Geologica Roman Medium"/>
                <a:ea typeface="Geologica Roman Medium"/>
                <a:cs typeface="Geologica Roman Medium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4900" y="3784600"/>
            <a:ext cx="3797300" cy="571500"/>
          </a:xfrm>
          <a:prstGeom prst="rect">
            <a:avLst/>
          </a:prstGeom>
        </p:spPr>
        <p:txBody>
          <a:bodyPr anchor="ctr" rtlCol="false" lIns="0" tIns="41339" rIns="0" bIns="41339"/>
          <a:lstStyle/>
          <a:p>
            <a:pPr algn="ctr" lvl="0">
              <a:lnSpc>
                <a:spcPct val="98770"/>
              </a:lnSpc>
            </a:pPr>
            <a:r>
              <a:rPr lang="en-US" sz="31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데이터 기반 운영 최적화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346200" y="2387600"/>
            <a:ext cx="15506700" cy="266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6807200" y="3708400"/>
            <a:ext cx="1320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1244600" y="1435100"/>
            <a:ext cx="368300" cy="7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6883400" y="5461000"/>
            <a:ext cx="5092700" cy="3670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7518400" y="6032500"/>
            <a:ext cx="2235200" cy="69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346200" y="5461000"/>
            <a:ext cx="4991100" cy="367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2146300" y="6032500"/>
            <a:ext cx="1892300" cy="698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8382000" y="3225800"/>
            <a:ext cx="7239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1970"/>
              </a:lnSpc>
            </a:pPr>
            <a:r>
              <a:rPr lang="en-US" sz="2499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데이터 시각화 AI 기반 알고리즘을 통해 웨이팅을 좀더 효율적이고 간편하게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84500" y="3378200"/>
            <a:ext cx="4914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990"/>
              </a:lnSpc>
            </a:pPr>
            <a:r>
              <a:rPr lang="en-US" sz="3600" b="false" i="false" u="none" strike="noStrike" cap="all">
                <a:solidFill>
                  <a:srgbClr val="000000"/>
                </a:solidFill>
                <a:latin typeface="Geologica Roman Bold"/>
                <a:ea typeface="Geologica Roman Bold"/>
                <a:cs typeface="Geologica Roman Bold"/>
              </a:rPr>
              <a:t>Pass Now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57600" y="1219200"/>
            <a:ext cx="10655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  <a:ea typeface="Pretendard Light"/>
                <a:cs typeface="Pretendard Light"/>
              </a:rPr>
              <a:t>실시간 현황 및 AI 예측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8000" y="1206500"/>
            <a:ext cx="2933700" cy="558800"/>
          </a:xfrm>
          <a:prstGeom prst="rect">
            <a:avLst/>
          </a:prstGeom>
        </p:spPr>
        <p:txBody>
          <a:bodyPr anchor="ctr" rtlCol="false" lIns="0" tIns="40005" rIns="0" bIns="40005"/>
          <a:lstStyle/>
          <a:p>
            <a:pPr algn="l" lvl="0">
              <a:lnSpc>
                <a:spcPct val="9877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핵심 기능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83500" y="6985000"/>
            <a:ext cx="37719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04800" indent="-304800">
              <a:lnSpc>
                <a:spcPct val="14193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매장 회전율 데이터를 분석하여 정확한 예상 대기 시간 산출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800" y="6146800"/>
            <a:ext cx="2184400" cy="4699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ctr" lvl="0">
              <a:lnSpc>
                <a:spcPct val="98770"/>
              </a:lnSpc>
            </a:pPr>
            <a:r>
              <a:rPr lang="en-US" sz="2499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AI 기반 알고리즘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7100" y="6985000"/>
            <a:ext cx="32766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04800" indent="-304800">
              <a:lnSpc>
                <a:spcPct val="14193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내 순서와 실시간 입장 현황을 직관적인 대시보드로 확인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6600" y="6146800"/>
            <a:ext cx="2184400" cy="4699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ctr" lvl="0">
              <a:lnSpc>
                <a:spcPct val="98770"/>
              </a:lnSpc>
            </a:pPr>
            <a:r>
              <a:rPr lang="en-US" sz="2499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데이터 시각화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2636500" y="5461000"/>
            <a:ext cx="5016500" cy="3670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3271500" y="6032500"/>
            <a:ext cx="2235200" cy="698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3487400" y="6985000"/>
            <a:ext cx="36830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04800" indent="-304800">
              <a:lnSpc>
                <a:spcPct val="14193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입장 임박 시 자동 푸시 알림으로 고객의 귀중한 시간을 절약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96900" y="6146800"/>
            <a:ext cx="2184400" cy="4699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ctr" lvl="0">
              <a:lnSpc>
                <a:spcPct val="98770"/>
              </a:lnSpc>
            </a:pPr>
            <a:r>
              <a:rPr lang="en-US" sz="2499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스마트 알림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346200" y="2387600"/>
            <a:ext cx="15506700" cy="266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6807200" y="3708400"/>
            <a:ext cx="1320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1244600" y="1435100"/>
            <a:ext cx="368300" cy="7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6883400" y="5461000"/>
            <a:ext cx="5092700" cy="3670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7518400" y="6032500"/>
            <a:ext cx="2235200" cy="69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346200" y="5461000"/>
            <a:ext cx="4991100" cy="367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968500" y="6032500"/>
            <a:ext cx="2463800" cy="698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8382000" y="3225800"/>
            <a:ext cx="7239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1970"/>
              </a:lnSpc>
            </a:pPr>
            <a:r>
              <a:rPr lang="en-US" sz="2499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데이터 시각화 AI 기반 알고리즘을 통해 웨이팅을 좀더 효율적이고 간편하게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84500" y="3378200"/>
            <a:ext cx="4914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990"/>
              </a:lnSpc>
            </a:pPr>
            <a:r>
              <a:rPr lang="en-US" sz="3600" b="false" i="false" u="none" strike="noStrike" cap="all">
                <a:solidFill>
                  <a:srgbClr val="000000"/>
                </a:solidFill>
                <a:latin typeface="Geologica Roman Bold"/>
                <a:ea typeface="Geologica Roman Bold"/>
                <a:cs typeface="Geologica Roman Bold"/>
              </a:rPr>
              <a:t>Pass Now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4600" y="1219200"/>
            <a:ext cx="10655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  <a:ea typeface="Pretendard Light"/>
                <a:cs typeface="Pretendard Light"/>
              </a:rPr>
              <a:t>QR 및 간편 인증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8000" y="1206500"/>
            <a:ext cx="2933700" cy="558800"/>
          </a:xfrm>
          <a:prstGeom prst="rect">
            <a:avLst/>
          </a:prstGeom>
        </p:spPr>
        <p:txBody>
          <a:bodyPr anchor="ctr" rtlCol="false" lIns="0" tIns="40005" rIns="0" bIns="40005"/>
          <a:lstStyle/>
          <a:p>
            <a:pPr algn="l" lvl="0">
              <a:lnSpc>
                <a:spcPct val="9877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핵심 기능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34300" y="6985000"/>
            <a:ext cx="3683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04800" indent="-304800">
              <a:lnSpc>
                <a:spcPct val="14193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푸시 알림과 자동 호출 시스템으로 인력 투입을 최소화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800" y="6146800"/>
            <a:ext cx="2184400" cy="4699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ctr" lvl="0">
              <a:lnSpc>
                <a:spcPct val="98770"/>
              </a:lnSpc>
            </a:pPr>
            <a:r>
              <a:rPr lang="en-US" sz="2499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자동 번호 호출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7100" y="6985000"/>
            <a:ext cx="32766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04800" indent="-304800">
              <a:lnSpc>
                <a:spcPct val="14193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QR 코드 스캔 하나로 고객 개인 스마트폰에서 즉시 대기 등록 완료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6600" y="6146800"/>
            <a:ext cx="2425700" cy="4699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ctr" lvl="0">
              <a:lnSpc>
                <a:spcPct val="98770"/>
              </a:lnSpc>
            </a:pPr>
            <a:r>
              <a:rPr lang="en-US" sz="2499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태블릿 없는 웨이팅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2636500" y="5461000"/>
            <a:ext cx="5016500" cy="3670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3271500" y="6032500"/>
            <a:ext cx="2235200" cy="698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3449300" y="6985000"/>
            <a:ext cx="37719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04800" indent="-304800">
              <a:lnSpc>
                <a:spcPct val="14193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미응답 시 자동 취소로 운영 공백을 방지하고 순번을 즉시 조정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96900" y="6146800"/>
            <a:ext cx="2184400" cy="469900"/>
          </a:xfrm>
          <a:prstGeom prst="rect">
            <a:avLst/>
          </a:prstGeom>
        </p:spPr>
        <p:txBody>
          <a:bodyPr anchor="ctr" rtlCol="false" lIns="0" tIns="33337" rIns="0" bIns="33337"/>
          <a:lstStyle/>
          <a:p>
            <a:pPr algn="ctr" lvl="0">
              <a:lnSpc>
                <a:spcPct val="98770"/>
              </a:lnSpc>
            </a:pPr>
            <a:r>
              <a:rPr lang="en-US" sz="2499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노쇼 자동 취소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384300" y="2451100"/>
            <a:ext cx="4953000" cy="650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3429000" y="3022600"/>
            <a:ext cx="863600" cy="54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2705100" y="4648200"/>
            <a:ext cx="2311400" cy="231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2933700" y="4826000"/>
            <a:ext cx="1854200" cy="185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244600" y="1435100"/>
            <a:ext cx="368300" cy="76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667500" y="2451100"/>
            <a:ext cx="4953000" cy="650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712200" y="3022600"/>
            <a:ext cx="863600" cy="54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7988300" y="4648200"/>
            <a:ext cx="2311400" cy="2311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950700" y="2451100"/>
            <a:ext cx="4953000" cy="650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3995400" y="3022600"/>
            <a:ext cx="863600" cy="5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271500" y="4648200"/>
            <a:ext cx="2311400" cy="231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8420100" y="5130800"/>
            <a:ext cx="1460500" cy="146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3589000" y="4876800"/>
            <a:ext cx="1676400" cy="1739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905000" y="7353300"/>
            <a:ext cx="39116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3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TTS(음성 변환) 기술 기반의 실시간 입장 안내 멘트로 시각 정보 없이도 대기 현황을 파악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86100" y="3086100"/>
            <a:ext cx="1536700" cy="419100"/>
          </a:xfrm>
          <a:prstGeom prst="rect">
            <a:avLst/>
          </a:prstGeom>
        </p:spPr>
        <p:txBody>
          <a:bodyPr anchor="ctr" rtlCol="false" lIns="0" tIns="29337" rIns="0" bIns="29337"/>
          <a:lstStyle/>
          <a:p>
            <a:pPr algn="ctr" lvl="0">
              <a:lnSpc>
                <a:spcPct val="98770"/>
              </a:lnSpc>
            </a:pPr>
            <a:r>
              <a:rPr lang="en-US" sz="2200" b="false" i="false" u="none" strike="noStrike" spc="-200">
                <a:solidFill>
                  <a:srgbClr val="0066FF"/>
                </a:solidFill>
                <a:latin typeface="Geologica Roman Medium"/>
                <a:ea typeface="Geologica Roman Medium"/>
                <a:cs typeface="Geologica Roman Medium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5700" y="3784600"/>
            <a:ext cx="2857500" cy="571500"/>
          </a:xfrm>
          <a:prstGeom prst="rect">
            <a:avLst/>
          </a:prstGeom>
        </p:spPr>
        <p:txBody>
          <a:bodyPr anchor="ctr" rtlCol="false" lIns="0" tIns="41339" rIns="0" bIns="41339"/>
          <a:lstStyle/>
          <a:p>
            <a:pPr algn="ctr" lvl="0">
              <a:lnSpc>
                <a:spcPct val="98770"/>
              </a:lnSpc>
            </a:pPr>
            <a:r>
              <a:rPr lang="en-US" sz="31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시각 장애인 지원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36900" y="1193800"/>
            <a:ext cx="977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  <a:ea typeface="Pretendard Light"/>
                <a:cs typeface="Pretendard Light"/>
              </a:rPr>
              <a:t>배리어 프리(Barrier-Free) 대기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8000" y="1206500"/>
            <a:ext cx="2933700" cy="558800"/>
          </a:xfrm>
          <a:prstGeom prst="rect">
            <a:avLst/>
          </a:prstGeom>
        </p:spPr>
        <p:txBody>
          <a:bodyPr anchor="ctr" rtlCol="false" lIns="0" tIns="40005" rIns="0" bIns="40005"/>
          <a:lstStyle/>
          <a:p>
            <a:pPr algn="l" lvl="0">
              <a:lnSpc>
                <a:spcPct val="9877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차별점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00900" y="7353300"/>
            <a:ext cx="38989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3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시각적 대기 정보 디스플레이와 강렬한 진동 알림으로 소리 없이도 호출을 즉시 인지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69300" y="3086100"/>
            <a:ext cx="1536700" cy="419100"/>
          </a:xfrm>
          <a:prstGeom prst="rect">
            <a:avLst/>
          </a:prstGeom>
        </p:spPr>
        <p:txBody>
          <a:bodyPr anchor="ctr" rtlCol="false" lIns="0" tIns="29337" rIns="0" bIns="29337"/>
          <a:lstStyle/>
          <a:p>
            <a:pPr algn="ctr" lvl="0">
              <a:lnSpc>
                <a:spcPct val="98770"/>
              </a:lnSpc>
            </a:pPr>
            <a:r>
              <a:rPr lang="en-US" sz="2200" b="false" i="false" u="none" strike="noStrike" spc="-200">
                <a:solidFill>
                  <a:srgbClr val="0066FF"/>
                </a:solidFill>
                <a:latin typeface="Geologica Roman Medium"/>
                <a:ea typeface="Geologica Roman Medium"/>
                <a:cs typeface="Geologica Roman Medium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53300" y="3784600"/>
            <a:ext cx="3581400" cy="571500"/>
          </a:xfrm>
          <a:prstGeom prst="rect">
            <a:avLst/>
          </a:prstGeom>
        </p:spPr>
        <p:txBody>
          <a:bodyPr anchor="ctr" rtlCol="false" lIns="0" tIns="41339" rIns="0" bIns="41339"/>
          <a:lstStyle/>
          <a:p>
            <a:pPr algn="ctr" lvl="0">
              <a:lnSpc>
                <a:spcPct val="98770"/>
              </a:lnSpc>
            </a:pPr>
            <a:r>
              <a:rPr lang="en-US" sz="31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청각 장애인 지원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84100" y="7353300"/>
            <a:ext cx="38989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2008"/>
              </a:lnSpc>
            </a:pPr>
            <a:r>
              <a:rPr lang="en-US" sz="2300" b="false" i="false" u="none" strike="noStrike">
                <a:solidFill>
                  <a:srgbClr val="000000">
                    <a:alpha val="90196"/>
                  </a:srgbClr>
                </a:solidFill>
                <a:latin typeface="Pretendard Regular"/>
                <a:ea typeface="Pretendard Regular"/>
                <a:cs typeface="Pretendard Regular"/>
              </a:rPr>
              <a:t>누구나 차별 없이 편리하게 이용하는 진정한 의미의 유니버설 디자인을 지향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65200" y="3086100"/>
            <a:ext cx="1536700" cy="419100"/>
          </a:xfrm>
          <a:prstGeom prst="rect">
            <a:avLst/>
          </a:prstGeom>
        </p:spPr>
        <p:txBody>
          <a:bodyPr anchor="ctr" rtlCol="false" lIns="0" tIns="29337" rIns="0" bIns="29337"/>
          <a:lstStyle/>
          <a:p>
            <a:pPr algn="ctr" lvl="0">
              <a:lnSpc>
                <a:spcPct val="98770"/>
              </a:lnSpc>
            </a:pPr>
            <a:r>
              <a:rPr lang="en-US" sz="2200" b="false" i="false" u="none" strike="noStrike" spc="-200">
                <a:solidFill>
                  <a:srgbClr val="0066FF"/>
                </a:solidFill>
                <a:latin typeface="Geologica Roman Medium"/>
                <a:ea typeface="Geologica Roman Medium"/>
                <a:cs typeface="Geologica Roman Medium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38100" y="3784600"/>
            <a:ext cx="3390900" cy="571500"/>
          </a:xfrm>
          <a:prstGeom prst="rect">
            <a:avLst/>
          </a:prstGeom>
        </p:spPr>
        <p:txBody>
          <a:bodyPr anchor="ctr" rtlCol="false" lIns="0" tIns="41339" rIns="0" bIns="41339"/>
          <a:lstStyle/>
          <a:p>
            <a:pPr algn="ctr" lvl="0">
              <a:lnSpc>
                <a:spcPct val="98770"/>
              </a:lnSpc>
            </a:pPr>
            <a:r>
              <a:rPr lang="en-US" sz="3100" b="false" i="false" u="none" strike="noStrike" spc="-100">
                <a:solidFill>
                  <a:srgbClr val="0066FF"/>
                </a:solidFill>
                <a:latin typeface="Pretendard Bold"/>
                <a:ea typeface="Pretendard Bold"/>
                <a:cs typeface="Pretendard Bold"/>
              </a:rPr>
              <a:t>포용적 서비스 디자인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244600" y="1435100"/>
            <a:ext cx="368300" cy="76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483100" y="1219200"/>
            <a:ext cx="977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  <a:ea typeface="Pretendard Light"/>
                <a:cs typeface="Pretendard Light"/>
              </a:rPr>
              <a:t>매장 회전율과 운영 효율의 혁신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8000" y="1206500"/>
            <a:ext cx="2933700" cy="558800"/>
          </a:xfrm>
          <a:prstGeom prst="rect">
            <a:avLst/>
          </a:prstGeom>
        </p:spPr>
        <p:txBody>
          <a:bodyPr anchor="ctr" rtlCol="false" lIns="0" tIns="40005" rIns="0" bIns="40005"/>
          <a:lstStyle/>
          <a:p>
            <a:pPr algn="l" lvl="0">
              <a:lnSpc>
                <a:spcPct val="9877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도입 효과 및 타겟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16200" y="2400300"/>
            <a:ext cx="1866900" cy="1409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806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0%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6600" y="2400300"/>
            <a:ext cx="2489200" cy="1409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806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99%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06600" y="2400300"/>
            <a:ext cx="1625600" cy="1409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806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5+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5500" y="4102100"/>
            <a:ext cx="28067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수기 리소스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70800" y="4102100"/>
            <a:ext cx="34925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AI 예측 정확도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41400" y="4102100"/>
            <a:ext cx="34290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확장 가능 분야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6100" y="5130800"/>
            <a:ext cx="58420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완전 디지털 전환으로 인력 낭비 제거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86600" y="5130800"/>
            <a:ext cx="46101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목표 정밀도로 신뢰도 극대화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6800" y="5130800"/>
            <a:ext cx="58674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외식업, 병원, 관공서, 팝업스토어 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2200" y="6680200"/>
            <a:ext cx="3302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0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운영 효율성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6000" y="6680200"/>
            <a:ext cx="387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0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데이터 마케팅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2200" y="8115300"/>
            <a:ext cx="59436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수기 관리 제거와 자동화 호출로 매장 </a:t>
            </a:r>
          </a:p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직원은 본연의 서비스에 집중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6300" y="8115300"/>
            <a:ext cx="79248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축적된 고객 데이터를 기반으로 맞춤형 프로모션과</a:t>
            </a:r>
          </a:p>
          <a:p>
            <a:pPr algn="l" lvl="0">
              <a:lnSpc>
                <a:spcPct val="116199"/>
              </a:lnSpc>
            </a:pPr>
            <a:r>
              <a:rPr lang="en-US" sz="315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재방문 유도 전략을 수립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384300" y="6883400"/>
            <a:ext cx="15506700" cy="223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397000" y="3581400"/>
            <a:ext cx="7569200" cy="292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97000" y="2451100"/>
            <a:ext cx="7569200" cy="977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21800" y="3581400"/>
            <a:ext cx="7569200" cy="292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321800" y="2451100"/>
            <a:ext cx="75692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1244600" y="1435100"/>
            <a:ext cx="368300" cy="76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644900" y="7721600"/>
            <a:ext cx="11353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3200" b="false" i="false" u="none" strike="noStrike">
                <a:solidFill>
                  <a:srgbClr val="000000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고객과 사업장 모두가 만족하는 상생의 플랫폼으로 성장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2000" y="4508500"/>
            <a:ext cx="63246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marL="330200" indent="-3302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0" b="false" i="false" u="none" strike="noStrike">
                <a:solidFill>
                  <a:srgbClr val="000000">
                    <a:alpha val="72157"/>
                  </a:srgbClr>
                </a:solidFill>
                <a:latin typeface="Pretendard Medium"/>
                <a:ea typeface="Pretendard Medium"/>
                <a:cs typeface="Pretendard Medium"/>
              </a:rPr>
              <a:t>단순한 줄서기를 넘어 매장의 가치를 높이는 차별화된 고객 경험 제공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76700" y="2679700"/>
            <a:ext cx="2222500" cy="520700"/>
          </a:xfrm>
          <a:prstGeom prst="rect">
            <a:avLst/>
          </a:prstGeom>
        </p:spPr>
        <p:txBody>
          <a:bodyPr anchor="ctr" rtlCol="false" lIns="0" tIns="37338" rIns="0" bIns="37338"/>
          <a:lstStyle/>
          <a:p>
            <a:pPr algn="ctr" lvl="0">
              <a:lnSpc>
                <a:spcPct val="98770"/>
              </a:lnSpc>
            </a:pPr>
            <a:r>
              <a:rPr lang="en-US" sz="2799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서비스 목표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4100" y="4508500"/>
            <a:ext cx="63246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marL="330200" indent="-3302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0" b="false" i="false" u="none" strike="noStrike">
                <a:solidFill>
                  <a:srgbClr val="0066FF"/>
                </a:solidFill>
                <a:latin typeface="Pretendard Medium"/>
                <a:ea typeface="Pretendard Medium"/>
                <a:cs typeface="Pretendard Medium"/>
              </a:rPr>
              <a:t>정확도 99% 이상의 AI 대기 시간 예측 정밀화와 실시간 데이터 처리 고도화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8800" y="2679700"/>
            <a:ext cx="2222500" cy="520700"/>
          </a:xfrm>
          <a:prstGeom prst="rect">
            <a:avLst/>
          </a:prstGeom>
        </p:spPr>
        <p:txBody>
          <a:bodyPr anchor="ctr" rtlCol="false" lIns="0" tIns="37338" rIns="0" bIns="37338"/>
          <a:lstStyle/>
          <a:p>
            <a:pPr algn="ctr" lvl="0">
              <a:lnSpc>
                <a:spcPct val="98770"/>
              </a:lnSpc>
            </a:pPr>
            <a:r>
              <a:rPr lang="en-US" sz="2799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기술 목표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81300" y="1219200"/>
            <a:ext cx="977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  <a:ea typeface="Pretendard Light"/>
                <a:cs typeface="Pretendard Light"/>
              </a:rPr>
              <a:t>기다림을 즐거움으로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8000" y="1206500"/>
            <a:ext cx="2933700" cy="558800"/>
          </a:xfrm>
          <a:prstGeom prst="rect">
            <a:avLst/>
          </a:prstGeom>
        </p:spPr>
        <p:txBody>
          <a:bodyPr anchor="ctr" rtlCol="false" lIns="0" tIns="40005" rIns="0" bIns="40005"/>
          <a:lstStyle/>
          <a:p>
            <a:pPr algn="l" lvl="0">
              <a:lnSpc>
                <a:spcPct val="9877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비전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9FAF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38100" y="-12700"/>
            <a:ext cx="18364200" cy="165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0" y="4445000"/>
            <a:ext cx="4610100" cy="1409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806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